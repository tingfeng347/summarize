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660" r:id="rId3"/>
    <p:sldId id="666" r:id="rId4"/>
    <p:sldId id="667" r:id="rId5"/>
    <p:sldId id="680" r:id="rId6"/>
    <p:sldId id="681" r:id="rId7"/>
    <p:sldId id="692" r:id="rId8"/>
    <p:sldId id="693" r:id="rId9"/>
    <p:sldId id="690" r:id="rId10"/>
    <p:sldId id="684" r:id="rId11"/>
    <p:sldId id="691" r:id="rId12"/>
    <p:sldId id="685" r:id="rId13"/>
    <p:sldId id="688" r:id="rId14"/>
    <p:sldId id="665" r:id="rId15"/>
    <p:sldId id="694" r:id="rId16"/>
    <p:sldId id="695" r:id="rId17"/>
    <p:sldId id="696" r:id="rId18"/>
    <p:sldId id="67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6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244" y="68"/>
      </p:cViewPr>
      <p:guideLst>
        <p:guide orient="horz" pos="2160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02F35-D2CE-4E2A-B743-DFBD0A3F5FA6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BC97E-83BE-40E8-B5D4-E4F78D743B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1632FB-1BB4-44F6-87DD-B4AA02D29122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1632FB-1BB4-44F6-87DD-B4AA02D29122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1632FB-1BB4-44F6-87DD-B4AA02D29122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141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1632FB-1BB4-44F6-87DD-B4AA02D29122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81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1632FB-1BB4-44F6-87DD-B4AA02D29122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281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1632FB-1BB4-44F6-87DD-B4AA02D29122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17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8000" y="1219200"/>
            <a:ext cx="5511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3000" y="1219200"/>
            <a:ext cx="5511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28101" y="260350"/>
            <a:ext cx="2806700" cy="60642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8001" y="260350"/>
            <a:ext cx="8216900" cy="60642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375C5-C0A1-48FF-885F-E521D1422998}" type="datetimeFigureOut">
              <a:rPr lang="zh-CN" altLang="en-US" smtClean="0"/>
              <a:t>2023/12/29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68A43-E261-4649-966C-85C5B12334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24"/>
          <p:cNvSpPr>
            <a:spLocks noChangeArrowheads="1"/>
          </p:cNvSpPr>
          <p:nvPr/>
        </p:nvSpPr>
        <p:spPr bwMode="auto">
          <a:xfrm>
            <a:off x="0" y="0"/>
            <a:ext cx="12192000" cy="9144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3075" name="Freeform 126"/>
          <p:cNvSpPr/>
          <p:nvPr/>
        </p:nvSpPr>
        <p:spPr bwMode="auto">
          <a:xfrm>
            <a:off x="-8467" y="342900"/>
            <a:ext cx="8034867" cy="679450"/>
          </a:xfrm>
          <a:custGeom>
            <a:avLst/>
            <a:gdLst>
              <a:gd name="T0" fmla="*/ 0 w 3800"/>
              <a:gd name="T1" fmla="*/ 0 h 428"/>
              <a:gd name="T2" fmla="*/ 2147483646 w 3800"/>
              <a:gd name="T3" fmla="*/ 0 h 428"/>
              <a:gd name="T4" fmla="*/ 2147483646 w 3800"/>
              <a:gd name="T5" fmla="*/ 2147483646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19200"/>
            <a:ext cx="11226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260351"/>
            <a:ext cx="9448800" cy="4873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4"/>
          <p:cNvSpPr>
            <a:spLocks noChangeArrowheads="1"/>
          </p:cNvSpPr>
          <p:nvPr/>
        </p:nvSpPr>
        <p:spPr bwMode="auto">
          <a:xfrm>
            <a:off x="905346" y="167001"/>
            <a:ext cx="59293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汇报提纲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75510" y="1200785"/>
            <a:ext cx="82391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一、项目目的与意义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二、项目的内容与操作环境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三、项目实施过程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四、项目分工与完成情况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五、项目总结及收获</a:t>
            </a:r>
          </a:p>
        </p:txBody>
      </p:sp>
    </p:spTree>
  </p:cSld>
  <p:clrMapOvr>
    <a:masterClrMapping/>
  </p:clrMapOvr>
  <p:transition advTm="3095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5155" y="155575"/>
            <a:ext cx="4339650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fontAlgn="base">
              <a:lnSpc>
                <a:spcPct val="100000"/>
              </a:lnSpc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一、项目目的与意义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EA6CF3-42D1-4E8D-13DC-0B9735191711}"/>
              </a:ext>
            </a:extLst>
          </p:cNvPr>
          <p:cNvSpPr txBox="1"/>
          <p:nvPr/>
        </p:nvSpPr>
        <p:spPr>
          <a:xfrm>
            <a:off x="1095779" y="1514485"/>
            <a:ext cx="9152877" cy="4760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04800" algn="just">
              <a:lnSpc>
                <a:spcPts val="2600"/>
              </a:lnSpc>
            </a:pPr>
            <a:r>
              <a:rPr lang="zh-CN" altLang="zh-CN" sz="2400" kern="100" dirty="0">
                <a:effectLst/>
                <a:latin typeface="+mn-ea"/>
              </a:rPr>
              <a:t>数据采集课程设计是计算机科学与技术专业的一门专业课程，涉及</a:t>
            </a:r>
            <a:r>
              <a:rPr lang="en-US" altLang="zh-CN" sz="2400" kern="100" dirty="0">
                <a:effectLst/>
                <a:latin typeface="+mn-ea"/>
              </a:rPr>
              <a:t>python</a:t>
            </a:r>
            <a:r>
              <a:rPr lang="zh-CN" altLang="zh-CN" sz="2400" kern="100" dirty="0">
                <a:effectLst/>
                <a:latin typeface="+mn-ea"/>
              </a:rPr>
              <a:t>编程、数据库技术等课程。课程设计的目的是使学生掌握数据采集以及预处理的技术，理解数据采集的原理以及实现，培养学生综合运用所学知识的能力。通过数据采集项目解决实际问题，培养学生严谨的学习态度和良好的学习习惯。</a:t>
            </a:r>
          </a:p>
          <a:p>
            <a:pPr indent="304800" algn="just">
              <a:lnSpc>
                <a:spcPts val="2600"/>
              </a:lnSpc>
            </a:pPr>
            <a:r>
              <a:rPr lang="zh-CN" altLang="zh-CN" sz="2400" kern="100" dirty="0">
                <a:effectLst/>
                <a:latin typeface="+mn-ea"/>
              </a:rPr>
              <a:t>数据采集课程是一门旨在教授如何使用</a:t>
            </a:r>
            <a:r>
              <a:rPr lang="en-US" altLang="zh-CN" sz="2400" kern="100" dirty="0">
                <a:effectLst/>
                <a:latin typeface="+mn-ea"/>
              </a:rPr>
              <a:t> Python </a:t>
            </a:r>
            <a:r>
              <a:rPr lang="zh-CN" altLang="zh-CN" sz="2400" kern="100" dirty="0">
                <a:effectLst/>
                <a:latin typeface="+mn-ea"/>
              </a:rPr>
              <a:t>编写程序来获取、处理和分析数据的课程。该课程将介绍如何使用</a:t>
            </a:r>
            <a:r>
              <a:rPr lang="en-US" altLang="zh-CN" sz="2400" kern="100" dirty="0">
                <a:effectLst/>
                <a:latin typeface="+mn-ea"/>
              </a:rPr>
              <a:t> Python </a:t>
            </a:r>
            <a:r>
              <a:rPr lang="zh-CN" altLang="zh-CN" sz="2400" kern="100" dirty="0">
                <a:effectLst/>
                <a:latin typeface="+mn-ea"/>
              </a:rPr>
              <a:t>编写网络爬虫、解析</a:t>
            </a:r>
            <a:r>
              <a:rPr lang="en-US" altLang="zh-CN" sz="2400" kern="100" dirty="0">
                <a:effectLst/>
                <a:latin typeface="+mn-ea"/>
              </a:rPr>
              <a:t> HTML </a:t>
            </a:r>
            <a:r>
              <a:rPr lang="zh-CN" altLang="zh-CN" sz="2400" kern="100" dirty="0">
                <a:effectLst/>
                <a:latin typeface="+mn-ea"/>
              </a:rPr>
              <a:t>页面、使用数据库存储数据并对数据进行预处理。旨在通过本次课程设计，锻炼学生发现问题、解决问题、综合编程、团队合作等方面的能力，通过案例开发掌握</a:t>
            </a:r>
            <a:r>
              <a:rPr lang="en-US" altLang="zh-CN" sz="2400" kern="100" dirty="0">
                <a:effectLst/>
                <a:latin typeface="+mn-ea"/>
              </a:rPr>
              <a:t>python</a:t>
            </a:r>
            <a:r>
              <a:rPr lang="zh-CN" altLang="zh-CN" sz="2400" kern="100" dirty="0">
                <a:effectLst/>
                <a:latin typeface="+mn-ea"/>
              </a:rPr>
              <a:t>爬虫基础技术和数据采集以及预处理思路，了侧重实践能力引导和培养。由浅入深的带领学生熟悉数据采集的技术和原理，并辅导学生一步一步的完成项目的开发，学习和提高数据采集和处理能力，提高项目开发能力，注重学生团队意识培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5155" y="155575"/>
            <a:ext cx="4339650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二、项目内容与环境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5346" y="1358020"/>
            <a:ext cx="10357165" cy="4085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（一）项目内容</a:t>
            </a:r>
            <a:endParaRPr 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/>
            <a:r>
              <a:rPr lang="zh-CN" altLang="zh-CN" sz="2400" kern="100" dirty="0">
                <a:latin typeface="+mn-ea"/>
              </a:rPr>
              <a:t>本项目的目的是通过使用</a:t>
            </a:r>
            <a:r>
              <a:rPr lang="en-US" altLang="zh-CN" sz="2400" kern="100" dirty="0">
                <a:latin typeface="+mn-ea"/>
              </a:rPr>
              <a:t>Python</a:t>
            </a:r>
            <a:r>
              <a:rPr lang="zh-CN" altLang="zh-CN" sz="2400" kern="100" dirty="0">
                <a:latin typeface="+mn-ea"/>
              </a:rPr>
              <a:t>爬虫技术从目标网站上爬取数据，并将数据存储到</a:t>
            </a:r>
            <a:r>
              <a:rPr lang="en-US" altLang="zh-CN" sz="2400" kern="100" dirty="0">
                <a:latin typeface="+mn-ea"/>
              </a:rPr>
              <a:t>MySQL</a:t>
            </a:r>
            <a:r>
              <a:rPr lang="zh-CN" altLang="zh-CN" sz="2400" kern="100" dirty="0">
                <a:latin typeface="+mn-ea"/>
              </a:rPr>
              <a:t>数据库中，然后使用</a:t>
            </a:r>
            <a:r>
              <a:rPr lang="en-US" altLang="zh-CN" sz="2400" kern="100" dirty="0">
                <a:latin typeface="+mn-ea"/>
              </a:rPr>
              <a:t>Kettle</a:t>
            </a:r>
            <a:r>
              <a:rPr lang="zh-CN" altLang="zh-CN" sz="2400" kern="100" dirty="0">
                <a:latin typeface="+mn-ea"/>
              </a:rPr>
              <a:t>软件对爬取的数据进行处理。通过这个项目，学生可以学习并掌握</a:t>
            </a:r>
            <a:r>
              <a:rPr lang="en-US" altLang="zh-CN" sz="2400" kern="100" dirty="0">
                <a:latin typeface="+mn-ea"/>
              </a:rPr>
              <a:t>Python</a:t>
            </a:r>
            <a:r>
              <a:rPr lang="zh-CN" altLang="zh-CN" sz="2400" kern="100" dirty="0">
                <a:latin typeface="+mn-ea"/>
              </a:rPr>
              <a:t>爬虫的基本原理和实现方法，了解</a:t>
            </a:r>
            <a:r>
              <a:rPr lang="en-US" altLang="zh-CN" sz="2400" kern="100" dirty="0">
                <a:latin typeface="+mn-ea"/>
              </a:rPr>
              <a:t>MySQL</a:t>
            </a:r>
            <a:r>
              <a:rPr lang="zh-CN" altLang="zh-CN" sz="2400" kern="100" dirty="0">
                <a:latin typeface="+mn-ea"/>
              </a:rPr>
              <a:t>数据库的基本操作和</a:t>
            </a:r>
            <a:r>
              <a:rPr lang="en-US" altLang="zh-CN" sz="2400" kern="100" dirty="0">
                <a:latin typeface="+mn-ea"/>
              </a:rPr>
              <a:t>Kettle</a:t>
            </a:r>
            <a:r>
              <a:rPr lang="zh-CN" altLang="zh-CN" sz="2400" kern="100" dirty="0">
                <a:latin typeface="+mn-ea"/>
              </a:rPr>
              <a:t>软件的使用，同时也可以提高学生对数据处理和数据清洗的认识和实践能力。</a:t>
            </a:r>
          </a:p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（二）项目环境</a:t>
            </a: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 kern="100" dirty="0">
                <a:latin typeface="+mn-ea"/>
              </a:rPr>
              <a:t>一台</a:t>
            </a:r>
            <a:r>
              <a:rPr lang="en-US" altLang="zh-CN" sz="2400" kern="100" dirty="0">
                <a:latin typeface="+mn-ea"/>
              </a:rPr>
              <a:t>PC</a:t>
            </a:r>
            <a:r>
              <a:rPr lang="zh-CN" altLang="zh-CN" sz="2400" kern="100" dirty="0">
                <a:latin typeface="+mn-ea"/>
              </a:rPr>
              <a:t>机，</a:t>
            </a:r>
            <a:r>
              <a:rPr lang="en-US" altLang="zh-CN" sz="2400" kern="100" dirty="0">
                <a:latin typeface="+mn-ea"/>
              </a:rPr>
              <a:t>Windows10/11</a:t>
            </a:r>
            <a:r>
              <a:rPr lang="zh-CN" altLang="zh-CN" sz="2400" kern="100" dirty="0">
                <a:latin typeface="+mn-ea"/>
              </a:rPr>
              <a:t>操作系统，</a:t>
            </a:r>
            <a:r>
              <a:rPr lang="en-US" altLang="zh-CN" sz="2400" kern="100" dirty="0" err="1">
                <a:latin typeface="+mn-ea"/>
              </a:rPr>
              <a:t>Pycharm</a:t>
            </a:r>
            <a:r>
              <a:rPr lang="zh-CN" altLang="zh-CN" sz="2400" kern="100" dirty="0">
                <a:latin typeface="+mn-ea"/>
              </a:rPr>
              <a:t>，</a:t>
            </a:r>
            <a:r>
              <a:rPr lang="en-US" altLang="zh-CN" sz="2400" kern="100" dirty="0">
                <a:latin typeface="+mn-ea"/>
              </a:rPr>
              <a:t>JDK8</a:t>
            </a:r>
            <a:r>
              <a:rPr lang="zh-CN" altLang="zh-CN" sz="2400" kern="100" dirty="0">
                <a:latin typeface="+mn-ea"/>
              </a:rPr>
              <a:t>，</a:t>
            </a:r>
            <a:r>
              <a:rPr lang="en-US" altLang="zh-CN" sz="2400" kern="100" dirty="0">
                <a:latin typeface="+mn-ea"/>
              </a:rPr>
              <a:t>MySQL</a:t>
            </a:r>
            <a:r>
              <a:rPr lang="zh-CN" altLang="zh-CN" sz="2400" kern="100" dirty="0">
                <a:latin typeface="+mn-ea"/>
              </a:rPr>
              <a:t>数据库</a:t>
            </a:r>
            <a:r>
              <a:rPr lang="en-US" altLang="zh-CN" sz="2400" kern="100" dirty="0">
                <a:latin typeface="+mn-ea"/>
              </a:rPr>
              <a:t>,</a:t>
            </a:r>
            <a:r>
              <a:rPr lang="en-US" altLang="zh-CN" sz="2400" kern="100" dirty="0" err="1">
                <a:latin typeface="+mn-ea"/>
              </a:rPr>
              <a:t>Navicat</a:t>
            </a:r>
            <a:r>
              <a:rPr lang="en-US" altLang="zh-CN" sz="2400" kern="100" dirty="0">
                <a:latin typeface="+mn-ea"/>
              </a:rPr>
              <a:t> premium15,kettle 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C39783-6062-D2EF-4B08-D1F63B27CEDE}"/>
              </a:ext>
            </a:extLst>
          </p:cNvPr>
          <p:cNvSpPr txBox="1"/>
          <p:nvPr/>
        </p:nvSpPr>
        <p:spPr>
          <a:xfrm>
            <a:off x="89145" y="875737"/>
            <a:ext cx="4635064" cy="522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基础环境搭建安装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39750" algn="just">
              <a:lnSpc>
                <a:spcPct val="300000"/>
              </a:lnSpc>
            </a:pPr>
            <a:r>
              <a:rPr lang="en-US" altLang="zh-CN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1.python</a:t>
            </a:r>
            <a:r>
              <a:rPr lang="zh-CN" altLang="zh-CN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相关库安装</a:t>
            </a:r>
          </a:p>
          <a:p>
            <a:pPr indent="539750"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安装爬虫所需的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urllib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bs4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pip install urllib3</a:t>
            </a:r>
          </a:p>
          <a:p>
            <a:pPr indent="539750"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pip install beautifulsoup4</a:t>
            </a:r>
          </a:p>
          <a:p>
            <a:pPr indent="539750"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安装数据入库所需的包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pip install 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pymysql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安装数据可视化所需要的包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9750">
              <a:lnSpc>
                <a:spcPts val="1900"/>
              </a:lnSpc>
            </a:pP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pip install 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pyecharts</a:t>
            </a: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2C9D5E-0044-6034-ADE2-FE2B76FC44E7}"/>
              </a:ext>
            </a:extLst>
          </p:cNvPr>
          <p:cNvSpPr txBox="1"/>
          <p:nvPr/>
        </p:nvSpPr>
        <p:spPr>
          <a:xfrm>
            <a:off x="3826675" y="2069935"/>
            <a:ext cx="3492062" cy="433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2.</a:t>
            </a:r>
            <a:r>
              <a:rPr lang="zh-CN" altLang="zh-CN" sz="1800" b="1" kern="2200" dirty="0"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kern="2200" dirty="0" err="1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mysql</a:t>
            </a:r>
            <a:r>
              <a:rPr lang="zh-CN" altLang="zh-CN" sz="1800" b="1" kern="2200" dirty="0"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数据库安装</a:t>
            </a:r>
            <a:endParaRPr lang="en-US" altLang="zh-CN" sz="1800" b="1" kern="2200" dirty="0">
              <a:effectLst/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800" b="1" kern="2200" dirty="0">
              <a:effectLst/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9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下载安装包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解压压缩包，将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my.ini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文件放到解压后的目录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命令行窗口下，切换到指定的文件夹下面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安装并启动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zh-CN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服务，配置远程可连接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Navicat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kern="100" dirty="0" err="1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数据库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64AD80-310D-24D2-21F2-6C3E55EE4C9C}"/>
              </a:ext>
            </a:extLst>
          </p:cNvPr>
          <p:cNvSpPr txBox="1"/>
          <p:nvPr/>
        </p:nvSpPr>
        <p:spPr>
          <a:xfrm>
            <a:off x="7564205" y="2069935"/>
            <a:ext cx="3492062" cy="4855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3.</a:t>
            </a:r>
            <a:r>
              <a:rPr lang="en-US" altLang="zh-CN" sz="1800" b="1" kern="22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 kettle</a:t>
            </a:r>
            <a:r>
              <a:rPr lang="zh-CN" altLang="zh-CN" sz="1800" b="1" kern="2200" dirty="0"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软件安装并连接</a:t>
            </a:r>
            <a:r>
              <a:rPr lang="en-US" altLang="zh-CN" sz="1800" b="1" kern="2200" dirty="0" err="1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mysql</a:t>
            </a:r>
            <a:r>
              <a:rPr lang="zh-CN" altLang="zh-CN" sz="1800" b="1" kern="2200" dirty="0"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数据库</a:t>
            </a:r>
            <a:endParaRPr lang="en-US" altLang="zh-CN" sz="1800" b="1" kern="2200" dirty="0">
              <a:effectLst/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kern="220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19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解压缩文件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pdi-ce-8.2.0.0-342.zip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解压完成之后，配置环境变量，环境变量指向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的安装目录</a:t>
            </a:r>
            <a:endParaRPr lang="en-US" altLang="zh-CN" sz="18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kettle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连接数据库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mysql-connector-java-8.0.30.jar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放在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kettle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lib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文件夹下面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900"/>
              </a:lnSpc>
            </a:pP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修改</a:t>
            </a:r>
            <a:r>
              <a:rPr lang="en-US" altLang="zh-CN" sz="1800" dirty="0" err="1">
                <a:solidFill>
                  <a:srgbClr val="4D4D4D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kettel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sample-</a:t>
            </a:r>
            <a:r>
              <a:rPr lang="en-US" altLang="zh-CN" sz="1800" dirty="0" err="1">
                <a:solidFill>
                  <a:srgbClr val="4D4D4D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jndi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文件夹下的配置文件</a:t>
            </a:r>
            <a:endParaRPr lang="en-US" altLang="zh-CN" sz="1800" dirty="0">
              <a:solidFill>
                <a:srgbClr val="4D4D4D"/>
              </a:solidFill>
              <a:effectLst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1900"/>
              </a:lnSpc>
            </a:pPr>
            <a:endParaRPr lang="en-US" altLang="zh-CN" sz="1800" dirty="0">
              <a:solidFill>
                <a:srgbClr val="4D4D4D"/>
              </a:solidFill>
              <a:effectLst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19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修改完成后，采用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jndi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的方式连接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数据库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337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124692" y="801906"/>
            <a:ext cx="6101542" cy="16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数据采集以及预处理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6695" indent="266700" algn="just">
              <a:lnSpc>
                <a:spcPct val="150000"/>
              </a:lnSpc>
            </a:pPr>
            <a:endParaRPr lang="zh-CN" altLang="zh-CN" sz="32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05155" y="1711860"/>
            <a:ext cx="107167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编写代码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爬虫数据采集，构造请求</a:t>
            </a:r>
            <a:r>
              <a:rPr lang="en-US" altLang="zh-CN" dirty="0"/>
              <a:t>,</a:t>
            </a:r>
            <a:r>
              <a:rPr lang="zh-CN" altLang="en-US" dirty="0"/>
              <a:t>使用</a:t>
            </a:r>
            <a:r>
              <a:rPr lang="en-US" altLang="zh-CN" dirty="0" err="1"/>
              <a:t>urllib</a:t>
            </a:r>
            <a:r>
              <a:rPr lang="zh-CN" altLang="en-US" dirty="0"/>
              <a:t>库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 err="1">
                <a:solidFill>
                  <a:srgbClr val="05073B"/>
                </a:solidFill>
                <a:effectLst/>
                <a:latin typeface="-apple-system"/>
              </a:rPr>
              <a:t>urllib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库的主要作用是发送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HTTP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请求和处理响应。它支持同步和异步两种方式，可以发送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GET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POST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PUT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DELETE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等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HTTP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请求，并支持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HTTPS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协议。</a:t>
            </a:r>
            <a:r>
              <a:rPr lang="en-US" altLang="zh-CN" b="0" i="0" dirty="0" err="1">
                <a:solidFill>
                  <a:srgbClr val="05073B"/>
                </a:solidFill>
                <a:effectLst/>
                <a:latin typeface="-apple-system"/>
              </a:rPr>
              <a:t>urllib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库还提供了许多有用的功能，例如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URL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编码、处理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Cookie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、处理重定向等。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爬虫数据采集，解析数据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Beautiful Soup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是一个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库，用于解析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HTML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XML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文档，包括从网页或其他来源获取内容，并以树形结构组织这些内容，使其可以轻松地通过标签名、属性、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ID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或搜索等来访问。</a:t>
            </a:r>
          </a:p>
          <a:p>
            <a:pPr algn="l"/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Beautiful Soup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的主要作用是：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解析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HTML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或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XML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文档：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Beautiful Soup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可以将复杂的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HTML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或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XML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文档转换成一个复杂的树形结构，每个节点都是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Python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对象，这样你就可以很方便地查询、修改文档。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搜索文档：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PingFang-SC-Regular"/>
              </a:rPr>
              <a:t>Beautiful Soup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PingFang-SC-Regular"/>
              </a:rPr>
              <a:t>支持在树形文档中进行搜索，可以搜索标签名、属性、文本内容等</a:t>
            </a:r>
            <a:endParaRPr lang="en-US" altLang="zh-CN" b="0" i="0" dirty="0">
              <a:solidFill>
                <a:srgbClr val="05073B"/>
              </a:solidFill>
              <a:effectLst/>
              <a:latin typeface="PingFang-SC-Regular"/>
            </a:endParaRPr>
          </a:p>
          <a:p>
            <a:pPr algn="l"/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645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124692" y="801906"/>
            <a:ext cx="6101542" cy="16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数据采集以及预处理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6695" indent="266700" algn="just">
              <a:lnSpc>
                <a:spcPct val="150000"/>
              </a:lnSpc>
            </a:pPr>
            <a:endParaRPr lang="zh-CN" altLang="zh-CN" sz="32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71657" y="1549194"/>
            <a:ext cx="107167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/>
              <a:t>2.</a:t>
            </a:r>
            <a:r>
              <a:rPr lang="zh-CN" altLang="en-US" b="1" dirty="0"/>
              <a:t>登录网站获取</a:t>
            </a:r>
            <a:r>
              <a:rPr lang="zh-CN" altLang="zh-CN" sz="18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获取</a:t>
            </a:r>
            <a:r>
              <a:rPr lang="en-US" altLang="zh-CN" sz="18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cookie</a:t>
            </a:r>
            <a:r>
              <a:rPr lang="zh-CN" altLang="zh-CN" sz="18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信息</a:t>
            </a:r>
            <a:endParaRPr lang="zh-CN" altLang="en-US" b="1" dirty="0"/>
          </a:p>
          <a:p>
            <a:pPr marL="228600" indent="266700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chrome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浏览器打开惠农网的页面，注册登录之后，按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F12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indent="266700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一次选择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Application -&gt; Storage -&gt; Cookies -&gt; .c &gt; show Requests With Cookie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，获取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cookie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信息后，将代码中的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cookie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信息替换掉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205709-20F7-2AB7-4307-C439D3A4C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55" y="2746375"/>
            <a:ext cx="8378478" cy="3956050"/>
          </a:xfrm>
          <a:prstGeom prst="rect">
            <a:avLst/>
          </a:prstGeom>
          <a:noFill/>
          <a:ln>
            <a:noFill/>
          </a:ln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80360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124692" y="801906"/>
            <a:ext cx="6101542" cy="16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数据采集以及预处理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6695" indent="266700" algn="just">
              <a:lnSpc>
                <a:spcPct val="150000"/>
              </a:lnSpc>
            </a:pPr>
            <a:endParaRPr lang="zh-CN" altLang="zh-CN" sz="32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71657" y="1549194"/>
            <a:ext cx="10716780" cy="4181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r>
              <a:rPr lang="en-US" altLang="zh-CN" b="1" dirty="0"/>
              <a:t>3.</a:t>
            </a:r>
            <a:r>
              <a:rPr lang="zh-CN" altLang="zh-CN" sz="1800" b="1" kern="2200" dirty="0"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获取</a:t>
            </a:r>
            <a:r>
              <a:rPr lang="en-US" altLang="zh-CN" sz="1800" b="1" kern="22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zh-CN" sz="1800" b="1" kern="2200" dirty="0"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代理</a:t>
            </a:r>
            <a:endParaRPr lang="en-US" altLang="zh-CN" sz="1800" b="1" kern="2200" dirty="0">
              <a:effectLst/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ts val="1700"/>
              </a:spcBef>
              <a:spcAft>
                <a:spcPts val="1650"/>
              </a:spcAft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有些网站有反爬虫机制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通过代理</a:t>
            </a:r>
            <a:r>
              <a:rPr lang="en-US" altLang="zh-CN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可以绕开限制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首先解压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proxy_pool-master.zip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，解压之后用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pycharm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打开</a:t>
            </a:r>
          </a:p>
          <a:p>
            <a:pPr lvl="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setting.py  DB_CONN = '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redis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://127.0.0.1:6379/0’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redis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redis-cli.exe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4.python proxyPool.py schedule 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运行时如果报某个库不存在，用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pip install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语句安装对应的库就可以</a:t>
            </a:r>
          </a:p>
          <a:p>
            <a:pPr lvl="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5.python proxyPool.py server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38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141317" y="780852"/>
            <a:ext cx="6101542" cy="16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数据采集以及预处理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6695" indent="266700" algn="just">
              <a:lnSpc>
                <a:spcPct val="150000"/>
              </a:lnSpc>
            </a:pPr>
            <a:endParaRPr lang="zh-CN" altLang="zh-CN" sz="32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05155" y="1711860"/>
            <a:ext cx="10716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A43880-9A9E-CDDC-D83C-A112052082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7" y="1549194"/>
            <a:ext cx="9772996" cy="5237715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28370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83127" y="801906"/>
            <a:ext cx="6101542" cy="16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数据采集以及预处理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6695" indent="266700" algn="just">
              <a:lnSpc>
                <a:spcPct val="150000"/>
              </a:lnSpc>
            </a:pPr>
            <a:endParaRPr lang="zh-CN" altLang="zh-CN" sz="32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05155" y="1549194"/>
            <a:ext cx="9769129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4.</a:t>
            </a:r>
            <a:r>
              <a:rPr lang="zh-CN" altLang="en-US" b="1" dirty="0"/>
              <a:t>使用</a:t>
            </a:r>
            <a:r>
              <a:rPr lang="en-US" altLang="zh-CN" b="1" dirty="0"/>
              <a:t>kettle</a:t>
            </a:r>
            <a:r>
              <a:rPr lang="zh-CN" altLang="en-US" b="1" dirty="0"/>
              <a:t>做数据预处理</a:t>
            </a:r>
            <a:endParaRPr lang="en-US" altLang="zh-CN" b="1" dirty="0"/>
          </a:p>
          <a:p>
            <a:endParaRPr lang="en-US" altLang="zh-CN" dirty="0"/>
          </a:p>
          <a:p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Kettle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是一款开源的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ETL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工具，纯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java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编写，可以在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Window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、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Linux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、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Unix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上运行，绿色无需安装。它允许你管理来自不同数据库的数据，通过提供一个图形化的用户环境来描述你想做什么，功能强大可以对多种数据源进行抽取（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Extraction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）、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加载（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Loading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）、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数据落湖（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Data lake Injection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）、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对数据进行各种清洗（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Cleaning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）、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转换（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Transformation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）、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混合（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Blending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），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并支持多维联机分析处理（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OLAP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和数据挖掘（</a:t>
            </a:r>
            <a:r>
              <a:rPr lang="de-DE" altLang="zh-CN" b="0" i="0" dirty="0">
                <a:solidFill>
                  <a:srgbClr val="05073B"/>
                </a:solidFill>
                <a:effectLst/>
                <a:latin typeface="-apple-system"/>
              </a:rPr>
              <a:t>Data mining</a:t>
            </a:r>
            <a:r>
              <a:rPr lang="zh-CN" altLang="de-DE" b="0" i="0" dirty="0">
                <a:solidFill>
                  <a:srgbClr val="05073B"/>
                </a:solidFill>
                <a:effectLst/>
                <a:latin typeface="-apple-system"/>
              </a:rPr>
              <a:t>）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安装并打开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kettle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2.kettle 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连接数据库</a:t>
            </a: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3.kettle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etl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</a:t>
            </a: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3.1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数据抽取</a:t>
            </a: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3.2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数据转换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数据转换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4.1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数据剔重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4.2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缺失值替换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load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（将数据加载到数据库中的新表）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查看新表</a:t>
            </a:r>
            <a:r>
              <a:rPr lang="en-US" altLang="zh-CN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product_info_new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中的数据</a:t>
            </a:r>
          </a:p>
          <a:p>
            <a:endParaRPr lang="en-US" altLang="zh-CN" sz="1800" kern="10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00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83127" y="801906"/>
            <a:ext cx="6101542" cy="16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数据采集以及预处理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6695" indent="266700" algn="just">
              <a:lnSpc>
                <a:spcPct val="150000"/>
              </a:lnSpc>
            </a:pPr>
            <a:endParaRPr lang="zh-CN" altLang="zh-CN" sz="32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05155" y="1549194"/>
            <a:ext cx="97691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800" kern="10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A7A009-273E-CF34-42E1-406FE60341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96" y="1549194"/>
            <a:ext cx="10196946" cy="521736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88190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133003" y="665854"/>
            <a:ext cx="6101542" cy="82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</a:t>
            </a:r>
            <a:endParaRPr lang="zh-CN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63345" y="1421767"/>
            <a:ext cx="1046739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编写代码</a:t>
            </a:r>
            <a:endParaRPr lang="en-US" altLang="zh-CN" b="1" dirty="0"/>
          </a:p>
          <a:p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导入相关库</a:t>
            </a:r>
            <a:endParaRPr lang="en-US" altLang="zh-CN" dirty="0">
              <a:solidFill>
                <a:srgbClr val="05073B"/>
              </a:solidFill>
              <a:latin typeface="-apple-system"/>
            </a:endParaRPr>
          </a:p>
          <a:p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import pandas as pd  #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导入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pandas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库用于数据处理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import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pymysql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 #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导入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pymysql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用于连接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MySQL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数据库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from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pyecharts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import options as opts  #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导入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pyecharts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中的选项模块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from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pyecharts.charts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import Bar  #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导入柱状图模块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from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pyecharts.globals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import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ThemeType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 #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导入主题类型</a:t>
            </a:r>
          </a:p>
          <a:p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连接到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MySQL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数据库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创建游标对象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编写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SQL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查询语句，获取数据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执行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SQL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查询，获取数据并存入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Pandas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DataFrame</a:t>
            </a:r>
            <a:br>
              <a:rPr lang="en-US" altLang="zh-CN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显示 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DataFrame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的前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500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行数据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将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‘price’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列转换为浮点型，并筛选出小于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100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的值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按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‘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addr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’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列分组计算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‘price’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列的均值，排序并重置索引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提取前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20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个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‘</a:t>
            </a:r>
            <a:r>
              <a:rPr lang="en-US" altLang="zh-CN" dirty="0" err="1">
                <a:solidFill>
                  <a:srgbClr val="05073B"/>
                </a:solidFill>
                <a:latin typeface="-apple-system"/>
              </a:rPr>
              <a:t>addr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’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和相应的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‘price’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值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定义一个函数，创建带有次级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y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轴的柱状图</a:t>
            </a:r>
            <a:br>
              <a:rPr lang="zh-CN" altLang="en-US" dirty="0">
                <a:solidFill>
                  <a:srgbClr val="05073B"/>
                </a:solidFill>
                <a:latin typeface="-apple-system"/>
              </a:rPr>
            </a:b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渲染柱状图，并将其保存为一个 </a:t>
            </a:r>
            <a:r>
              <a:rPr lang="en-US" altLang="zh-CN" dirty="0">
                <a:solidFill>
                  <a:srgbClr val="05073B"/>
                </a:solidFill>
                <a:latin typeface="-apple-system"/>
              </a:rPr>
              <a:t>HTML </a:t>
            </a:r>
            <a:r>
              <a:rPr lang="zh-CN" altLang="en-US" dirty="0">
                <a:solidFill>
                  <a:srgbClr val="05073B"/>
                </a:solidFill>
                <a:latin typeface="-apple-system"/>
              </a:rPr>
              <a:t>文件</a:t>
            </a:r>
            <a:br>
              <a:rPr lang="zh-CN" altLang="en-US" sz="1800" i="1" dirty="0"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5073B"/>
                </a:solidFill>
                <a:latin typeface="-apple-system"/>
              </a:rPr>
              <a:t>2.</a:t>
            </a:r>
            <a:r>
              <a:rPr lang="zh-CN" altLang="en-US" b="1" dirty="0">
                <a:solidFill>
                  <a:srgbClr val="05073B"/>
                </a:solidFill>
                <a:latin typeface="-apple-system"/>
              </a:rPr>
              <a:t>运行</a:t>
            </a:r>
            <a:endParaRPr lang="en-US" altLang="zh-CN" b="1" dirty="0">
              <a:solidFill>
                <a:srgbClr val="05073B"/>
              </a:solidFill>
              <a:latin typeface="-apple-system"/>
            </a:endParaRPr>
          </a:p>
          <a:p>
            <a:r>
              <a:rPr lang="en-US" altLang="zh-CN" sz="1800" b="1" dirty="0">
                <a:solidFill>
                  <a:srgbClr val="05073B"/>
                </a:solidFill>
                <a:effectLst/>
                <a:latin typeface="-apple-system"/>
              </a:rPr>
              <a:t>3.</a:t>
            </a:r>
            <a:r>
              <a:rPr lang="zh-CN" altLang="en-US" sz="1800" b="1" dirty="0">
                <a:solidFill>
                  <a:srgbClr val="05073B"/>
                </a:solidFill>
                <a:effectLst/>
                <a:latin typeface="-apple-system"/>
              </a:rPr>
              <a:t>生成结果</a:t>
            </a:r>
            <a:br>
              <a:rPr lang="en-US" altLang="zh-CN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altLang="zh-CN" sz="1800" dirty="0">
              <a:solidFill>
                <a:srgbClr val="080808"/>
              </a:solidFill>
              <a:effectLst/>
              <a:latin typeface="JetBrains Mono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61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A82AA-4C86-B816-5142-BBEA7EFD3834}"/>
              </a:ext>
            </a:extLst>
          </p:cNvPr>
          <p:cNvSpPr txBox="1"/>
          <p:nvPr/>
        </p:nvSpPr>
        <p:spPr>
          <a:xfrm>
            <a:off x="605155" y="155575"/>
            <a:ext cx="387798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 fontAlgn="base">
              <a:buClrTx/>
              <a:buFont typeface="Wingdings" panose="05000000000000000000" pitchFamily="2" charset="2"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项目实施过程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16F6C-38FC-E944-7951-1410E79379F8}"/>
              </a:ext>
            </a:extLst>
          </p:cNvPr>
          <p:cNvSpPr txBox="1"/>
          <p:nvPr/>
        </p:nvSpPr>
        <p:spPr>
          <a:xfrm>
            <a:off x="133003" y="665854"/>
            <a:ext cx="6101542" cy="82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</a:t>
            </a:r>
            <a:endParaRPr lang="zh-CN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7F92F-F1EF-AB99-1990-DA3F4FEE93B4}"/>
              </a:ext>
            </a:extLst>
          </p:cNvPr>
          <p:cNvSpPr txBox="1"/>
          <p:nvPr/>
        </p:nvSpPr>
        <p:spPr>
          <a:xfrm>
            <a:off x="663345" y="1421767"/>
            <a:ext cx="104673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结果如下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44B607-4354-E7F1-D092-F56F232B7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600" y="1789588"/>
            <a:ext cx="7772799" cy="4788146"/>
          </a:xfrm>
          <a:prstGeom prst="rect">
            <a:avLst/>
          </a:prstGeom>
          <a:effectLst>
            <a:reflection blurRad="190500" stA="35000" endPos="85000" dist="50800" dir="5400000" sy="-100000" algn="bl" rotWithShape="0"/>
            <a:softEdge rad="88900"/>
          </a:effectLst>
          <a:scene3d>
            <a:camera prst="orthographicFront"/>
            <a:lightRig rig="threePt" dir="t"/>
          </a:scene3d>
          <a:sp3d>
            <a:bevelT h="12700"/>
          </a:sp3d>
        </p:spPr>
      </p:pic>
    </p:spTree>
    <p:extLst>
      <p:ext uri="{BB962C8B-B14F-4D97-AF65-F5344CB8AC3E}">
        <p14:creationId xmlns:p14="http://schemas.microsoft.com/office/powerpoint/2010/main" val="303419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4"/>
          <p:cNvSpPr>
            <a:spLocks noChangeArrowheads="1"/>
          </p:cNvSpPr>
          <p:nvPr/>
        </p:nvSpPr>
        <p:spPr bwMode="auto">
          <a:xfrm>
            <a:off x="905346" y="167001"/>
            <a:ext cx="59293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buClr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五、项目总结及收获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2616" y="1092012"/>
            <a:ext cx="10357165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（一）难点问题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优势与特色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2513FF-E68E-F22C-35EB-49E4F0A6F75C}"/>
              </a:ext>
            </a:extLst>
          </p:cNvPr>
          <p:cNvSpPr txBox="1"/>
          <p:nvPr/>
        </p:nvSpPr>
        <p:spPr>
          <a:xfrm>
            <a:off x="905346" y="1986743"/>
            <a:ext cx="82129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5073B"/>
                </a:solidFill>
                <a:latin typeface="-apple-system"/>
              </a:rPr>
              <a:t>1.</a:t>
            </a:r>
            <a:r>
              <a:rPr lang="zh-CN" altLang="en-US" sz="2000" b="1" dirty="0">
                <a:solidFill>
                  <a:srgbClr val="05073B"/>
                </a:solidFill>
                <a:latin typeface="-apple-system"/>
              </a:rPr>
              <a:t>难点问题</a:t>
            </a:r>
            <a:endParaRPr lang="en-US" altLang="zh-CN" sz="2000" b="1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05073B"/>
                </a:solidFill>
                <a:latin typeface="-apple-system"/>
              </a:rPr>
              <a:t>Mysql</a:t>
            </a: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安装后无法连接数据库，通过更改端口成功连接数据库</a:t>
            </a:r>
            <a:endParaRPr lang="en-US" altLang="zh-CN" sz="2000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无法导入</a:t>
            </a:r>
            <a:r>
              <a:rPr lang="en-US" altLang="zh-CN" sz="2000" dirty="0" err="1">
                <a:solidFill>
                  <a:srgbClr val="05073B"/>
                </a:solidFill>
                <a:latin typeface="-apple-system"/>
              </a:rPr>
              <a:t>UserAgent</a:t>
            </a: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库，通过手动在</a:t>
            </a:r>
            <a:r>
              <a:rPr lang="en-US" altLang="zh-CN" sz="2000" dirty="0" err="1">
                <a:solidFill>
                  <a:srgbClr val="05073B"/>
                </a:solidFill>
                <a:latin typeface="-apple-system"/>
              </a:rPr>
              <a:t>pycharm</a:t>
            </a: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中导入</a:t>
            </a:r>
            <a:endParaRPr lang="en-US" altLang="zh-CN" sz="2000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代理服务器运行时没有定位到相关目录，更改目录后成功运行</a:t>
            </a:r>
            <a:endParaRPr lang="en-US" altLang="zh-CN" sz="2000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数据采集后通过</a:t>
            </a:r>
            <a:r>
              <a:rPr lang="en-US" altLang="zh-CN" sz="2000" dirty="0" err="1">
                <a:solidFill>
                  <a:srgbClr val="05073B"/>
                </a:solidFill>
                <a:latin typeface="-apple-system"/>
              </a:rPr>
              <a:t>kellte</a:t>
            </a: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处行预处理时数据库结果一直不变，实际是每次预处理后都会在原来的记录下边生成，通过更改查看记录的范围，找到了原因</a:t>
            </a:r>
            <a:endParaRPr lang="en-US" altLang="zh-CN" sz="2000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数据可视化时无法产生结果，通过渲染柱状图，并将其保存为一个 </a:t>
            </a:r>
            <a:r>
              <a:rPr lang="en-US" altLang="zh-CN" sz="2000" dirty="0">
                <a:solidFill>
                  <a:srgbClr val="05073B"/>
                </a:solidFill>
                <a:latin typeface="-apple-system"/>
              </a:rPr>
              <a:t>HTML </a:t>
            </a:r>
            <a:r>
              <a:rPr lang="zh-CN" altLang="en-US" sz="2000" dirty="0">
                <a:solidFill>
                  <a:srgbClr val="05073B"/>
                </a:solidFill>
                <a:latin typeface="-apple-system"/>
              </a:rPr>
              <a:t>文件，成功打开结果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advTm="30954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4"/>
          <p:cNvSpPr>
            <a:spLocks noChangeArrowheads="1"/>
          </p:cNvSpPr>
          <p:nvPr/>
        </p:nvSpPr>
        <p:spPr bwMode="auto">
          <a:xfrm>
            <a:off x="905346" y="167001"/>
            <a:ext cx="59293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buClr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五、项目总结及收获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7308" y="1166827"/>
            <a:ext cx="10357165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（一）难点问题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优势与特色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2513FF-E68E-F22C-35EB-49E4F0A6F75C}"/>
              </a:ext>
            </a:extLst>
          </p:cNvPr>
          <p:cNvSpPr txBox="1"/>
          <p:nvPr/>
        </p:nvSpPr>
        <p:spPr>
          <a:xfrm>
            <a:off x="1072342" y="1919441"/>
            <a:ext cx="8212974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5073B"/>
                </a:solidFill>
                <a:latin typeface="-apple-system"/>
              </a:rPr>
              <a:t>2.</a:t>
            </a:r>
            <a:r>
              <a:rPr lang="zh-CN" altLang="en-US" sz="2400" b="1" dirty="0">
                <a:solidFill>
                  <a:srgbClr val="05073B"/>
                </a:solidFill>
                <a:latin typeface="-apple-system"/>
              </a:rPr>
              <a:t>关键技术</a:t>
            </a:r>
            <a:endParaRPr lang="en-US" altLang="zh-CN" sz="2400" b="1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+mn-ea"/>
              </a:rPr>
              <a:t>Python</a:t>
            </a:r>
            <a:r>
              <a:rPr lang="zh-CN" altLang="en-US" sz="2400" kern="100" dirty="0">
                <a:latin typeface="+mn-ea"/>
              </a:rPr>
              <a:t>语言编程和应用</a:t>
            </a:r>
            <a:endParaRPr lang="en-US" altLang="zh-CN" sz="2400" kern="1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 err="1">
                <a:latin typeface="+mn-ea"/>
              </a:rPr>
              <a:t>Pycharm</a:t>
            </a:r>
            <a:r>
              <a:rPr lang="zh-CN" altLang="en-US" sz="2400" kern="100" dirty="0">
                <a:latin typeface="+mn-ea"/>
              </a:rPr>
              <a:t>的安装与使用</a:t>
            </a:r>
            <a:endParaRPr lang="en-US" altLang="zh-CN" sz="2400" kern="1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+mn-ea"/>
              </a:rPr>
              <a:t>JDK8</a:t>
            </a:r>
            <a:r>
              <a:rPr lang="zh-CN" altLang="en-US" sz="2400" kern="100" dirty="0">
                <a:latin typeface="+mn-ea"/>
              </a:rPr>
              <a:t>的安装与配置环境变量</a:t>
            </a:r>
            <a:endParaRPr lang="en-US" altLang="zh-CN" sz="2400" kern="1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+mn-ea"/>
              </a:rPr>
              <a:t>MySQL</a:t>
            </a:r>
            <a:r>
              <a:rPr lang="zh-CN" altLang="zh-CN" sz="2400" kern="100" dirty="0">
                <a:latin typeface="+mn-ea"/>
              </a:rPr>
              <a:t>数据库</a:t>
            </a:r>
            <a:r>
              <a:rPr lang="zh-CN" altLang="en-US" sz="2400" kern="100" dirty="0">
                <a:latin typeface="+mn-ea"/>
              </a:rPr>
              <a:t>的安装与连接</a:t>
            </a:r>
            <a:endParaRPr lang="en-US" altLang="zh-CN" sz="2400" kern="1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 err="1">
                <a:latin typeface="+mn-ea"/>
              </a:rPr>
              <a:t>Navicat</a:t>
            </a:r>
            <a:r>
              <a:rPr lang="en-US" altLang="zh-CN" sz="2400" kern="100" dirty="0">
                <a:latin typeface="+mn-ea"/>
              </a:rPr>
              <a:t> premium15</a:t>
            </a:r>
            <a:r>
              <a:rPr lang="zh-CN" altLang="en-US" sz="2400" kern="100" dirty="0">
                <a:latin typeface="+mn-ea"/>
              </a:rPr>
              <a:t>的安装，连接与使用</a:t>
            </a:r>
            <a:endParaRPr lang="en-US" altLang="zh-CN" sz="2400" kern="1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+mn-ea"/>
              </a:rPr>
              <a:t>Kettle</a:t>
            </a:r>
            <a:r>
              <a:rPr lang="zh-CN" altLang="en-US" sz="2400" kern="100" dirty="0">
                <a:latin typeface="+mn-ea"/>
              </a:rPr>
              <a:t>的安装，配置和使用</a:t>
            </a:r>
            <a:endParaRPr lang="en-US" altLang="zh-CN" sz="2400" b="1" dirty="0">
              <a:solidFill>
                <a:srgbClr val="05073B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+mn-ea"/>
              </a:rPr>
              <a:t>数据采集技术，数据预处理技术和数据可视化技术的应用</a:t>
            </a:r>
          </a:p>
        </p:txBody>
      </p:sp>
    </p:spTree>
    <p:extLst>
      <p:ext uri="{BB962C8B-B14F-4D97-AF65-F5344CB8AC3E}">
        <p14:creationId xmlns:p14="http://schemas.microsoft.com/office/powerpoint/2010/main" val="3486458214"/>
      </p:ext>
    </p:extLst>
  </p:cSld>
  <p:clrMapOvr>
    <a:masterClrMapping/>
  </p:clrMapOvr>
  <p:transition advTm="30954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4"/>
          <p:cNvSpPr>
            <a:spLocks noChangeArrowheads="1"/>
          </p:cNvSpPr>
          <p:nvPr/>
        </p:nvSpPr>
        <p:spPr bwMode="auto">
          <a:xfrm>
            <a:off x="905346" y="167001"/>
            <a:ext cx="59293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buClr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五、项目总结及收获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304" y="812161"/>
            <a:ext cx="10357165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（一）难点问题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优势与特色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2513FF-E68E-F22C-35EB-49E4F0A6F75C}"/>
              </a:ext>
            </a:extLst>
          </p:cNvPr>
          <p:cNvSpPr txBox="1"/>
          <p:nvPr/>
        </p:nvSpPr>
        <p:spPr>
          <a:xfrm>
            <a:off x="988473" y="1457321"/>
            <a:ext cx="821297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优势与特色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除了使用本地数据库以外，还实现了云服务器数据库的配置和连接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配置云服务器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 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拉取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1panel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可视化面板镜像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1panel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镜像创建容器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1panel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可视化面板里安装和配置</a:t>
            </a:r>
            <a:r>
              <a:rPr lang="en-US" altLang="zh-CN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并成功连接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上传到河南农业大学代码托管平台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0115544"/>
      </p:ext>
    </p:extLst>
  </p:cSld>
  <p:clrMapOvr>
    <a:masterClrMapping/>
  </p:clrMapOvr>
  <p:transition advTm="30954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4"/>
          <p:cNvSpPr>
            <a:spLocks noChangeArrowheads="1"/>
          </p:cNvSpPr>
          <p:nvPr/>
        </p:nvSpPr>
        <p:spPr bwMode="auto">
          <a:xfrm>
            <a:off x="905346" y="167001"/>
            <a:ext cx="59293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buClr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五、项目总结及收获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304" y="812161"/>
            <a:ext cx="10357165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（一）难点问题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优势与特色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2513FF-E68E-F22C-35EB-49E4F0A6F75C}"/>
              </a:ext>
            </a:extLst>
          </p:cNvPr>
          <p:cNvSpPr txBox="1"/>
          <p:nvPr/>
        </p:nvSpPr>
        <p:spPr>
          <a:xfrm>
            <a:off x="988473" y="1457321"/>
            <a:ext cx="8212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013FCB-7510-5335-1535-D7119315F3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70" y="1649063"/>
            <a:ext cx="9842269" cy="460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87041"/>
      </p:ext>
    </p:extLst>
  </p:cSld>
  <p:clrMapOvr>
    <a:masterClrMapping/>
  </p:clrMapOvr>
  <p:transition advTm="30954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4"/>
          <p:cNvSpPr>
            <a:spLocks noChangeArrowheads="1"/>
          </p:cNvSpPr>
          <p:nvPr/>
        </p:nvSpPr>
        <p:spPr bwMode="auto">
          <a:xfrm>
            <a:off x="905346" y="167001"/>
            <a:ext cx="59293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buClr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五、总结及收获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5346" y="1358020"/>
            <a:ext cx="10357165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（二）团队体会与收获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通过团队合作进行基于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的数据采集与预处理的设计与实现，我们获得了技术实践的机会，提高了团队协作能力和问题解决能力，加深了对数据质量的认识，并获得了宝贵的学习与成长的机会。这些经验和收获将对我们未来的职业发展产生积极的影响，并为我们在数据领域的探索和进一步学习奠定了坚实基础。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30954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281TGp_consulting_light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2_281TGp_consulting_light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1747</Words>
  <Application>Microsoft Office PowerPoint</Application>
  <PresentationFormat>宽屏</PresentationFormat>
  <Paragraphs>187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-apple-system</vt:lpstr>
      <vt:lpstr>JetBrains Mono</vt:lpstr>
      <vt:lpstr>PingFang-SC-Regular</vt:lpstr>
      <vt:lpstr>等线</vt:lpstr>
      <vt:lpstr>等线 Light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2_281TGp_consulting_light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Hebing Liu</dc:creator>
  <cp:lastModifiedBy>风 听</cp:lastModifiedBy>
  <cp:revision>36</cp:revision>
  <dcterms:created xsi:type="dcterms:W3CDTF">2018-12-24T08:10:00Z</dcterms:created>
  <dcterms:modified xsi:type="dcterms:W3CDTF">2023-12-29T07:08:44Z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2052-11.1.0.9098</vt:lpwstr>
  </property>
</Properties>
</file>